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ocument title"/>
          <p:cNvSpPr/>
          <p:nvPr/>
        </p:nvSpPr>
        <p:spPr>
          <a:xfrm>
            <a:off x="457200" y="289560"/>
            <a:ext cx="1127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6E8285"/>
                </a:solidFill>
                <a:latin typeface="Segoe UI"/>
              </a:rPr>
              <a:t>Route Split Cases</a:t>
            </a:r>
          </a:p>
        </p:txBody>
      </p:sp>
      <p:sp>
        <p:nvSpPr>
          <p:cNvPr id="100000" name="case metadata"/>
          <p:cNvSpPr/>
          <p:nvPr/>
        </p:nvSpPr>
        <p:spPr>
          <a:xfrm>
            <a:off x="457200" y="289560"/>
            <a:ext cx="1127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0" dirty="0">
                <a:solidFill>
                  <a:srgbClr val="6E8285"/>
                </a:solidFill>
                <a:latin typeface="Segoe UI"/>
              </a:rPr>
              <a:t>Test Plan  ·  Pro  ·  Roads &amp; Highways  ·  edited 2026-08-12 by K. Roper</a:t>
            </a:r>
          </a:p>
        </p:txBody>
      </p:sp>
      <p:sp>
        <p:nvSpPr>
          <p:cNvPr id="3" name="slide title"/>
          <p:cNvSpPr/>
          <p:nvPr/>
        </p:nvSpPr>
        <p:spPr>
          <a:xfrm>
            <a:off x="457200" y="553720"/>
            <a:ext cx="112776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6302F"/>
                </a:solidFill>
                <a:latin typeface="Segoe UI"/>
              </a:rPr>
              <a:t>Case 9 — Loop - Split measure: 20 (1 of 2)</a:t>
            </a:r>
          </a:p>
        </p:txBody>
      </p:sp>
      <p:grpSp>
        <p:nvGrpSpPr>
          <p:cNvPr id="4" name="Slide 3 — Route split (1 of 2)" descr="Slide 3 — Route split (1 of 2) — Schematic of the case: loop route, split at measure 20."/>
          <p:cNvGrpSpPr/>
          <p:nvPr/>
        </p:nvGrpSpPr>
        <p:grpSpPr>
          <a:xfrm>
            <a:off x="3764344" y="1120140"/>
            <a:ext cx="4663313" cy="1963500"/>
            <a:chOff x="0" y="0"/>
            <a:chExt cx="4663313" cy="1963500"/>
          </a:xfrm>
        </p:grpSpPr>
        <p:sp>
          <p:nvSpPr>
            <p:cNvPr id="5" name="event"/>
            <p:cNvSpPr/>
            <p:nvPr/>
          </p:nvSpPr>
          <p:spPr>
            <a:xfrm>
              <a:off x="490875" y="613594"/>
              <a:ext cx="1472625" cy="0"/>
            </a:xfrm>
            <a:prstGeom prst="line">
              <a:avLst/>
            </a:prstGeom>
            <a:ln w="49088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6" name="event"/>
            <p:cNvSpPr/>
            <p:nvPr/>
          </p:nvSpPr>
          <p:spPr>
            <a:xfrm>
              <a:off x="1963500" y="613594"/>
              <a:ext cx="1472625" cy="0"/>
            </a:xfrm>
            <a:prstGeom prst="line">
              <a:avLst/>
            </a:prstGeom>
            <a:ln w="49088" cap="flat">
              <a:solidFill>
                <a:srgbClr val="E39A45"/>
              </a:solidFill>
              <a:round/>
              <a:headEnd type="none"/>
              <a:tailEnd type="none"/>
            </a:ln>
          </p:spPr>
        </p:sp>
        <p:sp>
          <p:nvSpPr>
            <p:cNvPr id="7" name="tick"/>
            <p:cNvSpPr/>
            <p:nvPr/>
          </p:nvSpPr>
          <p:spPr>
            <a:xfrm>
              <a:off x="490875" y="567574"/>
              <a:ext cx="0" cy="92039"/>
            </a:xfrm>
            <a:prstGeom prst="line">
              <a:avLst/>
            </a:prstGeom>
            <a:ln w="8590" cap="rnd">
              <a:solidFill>
                <a:srgbClr val="4E6265"/>
              </a:solidFill>
              <a:round/>
              <a:headEnd type="none"/>
              <a:tailEnd type="none"/>
            </a:ln>
          </p:spPr>
        </p:sp>
        <p:sp>
          <p:nvSpPr>
            <p:cNvPr id="8" name="tick"/>
            <p:cNvSpPr/>
            <p:nvPr/>
          </p:nvSpPr>
          <p:spPr>
            <a:xfrm>
              <a:off x="859031" y="585982"/>
              <a:ext cx="0" cy="55223"/>
            </a:xfrm>
            <a:prstGeom prst="line">
              <a:avLst/>
            </a:prstGeom>
            <a:ln w="7056" cap="rnd">
              <a:solidFill>
                <a:srgbClr val="6E8285"/>
              </a:solidFill>
              <a:round/>
              <a:headEnd type="none"/>
              <a:tailEnd type="none"/>
            </a:ln>
          </p:spPr>
        </p:sp>
        <p:sp>
          <p:nvSpPr>
            <p:cNvPr id="9" name="route"/>
            <p:cNvSpPr/>
            <p:nvPr/>
          </p:nvSpPr>
          <p:spPr>
            <a:xfrm>
              <a:off x="368156" y="613594"/>
              <a:ext cx="3681563" cy="0"/>
            </a:xfrm>
            <a:prstGeom prst="line">
              <a:avLst/>
            </a:prstGeom>
            <a:ln w="18408" cap="flat">
              <a:solidFill>
                <a:srgbClr val="16302F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10" name="route"/>
            <p:cNvSpPr/>
            <p:nvPr/>
          </p:nvSpPr>
          <p:spPr>
            <a:xfrm>
              <a:off x="4000631" y="613594"/>
              <a:ext cx="49088" cy="0"/>
            </a:xfrm>
            <a:prstGeom prst="line">
              <a:avLst/>
            </a:prstGeom>
            <a:ln w="18408" cap="flat">
              <a:solidFill>
                <a:srgbClr val="16302F"/>
              </a:solidFill>
              <a:prstDash val="dash"/>
              <a:round/>
              <a:headEnd type="none"/>
              <a:tailEnd type="triangle" w="med" len="med"/>
            </a:ln>
          </p:spPr>
        </p:sp>
        <p:sp>
          <p:nvSpPr>
            <p:cNvPr id="11" name="split"/>
            <p:cNvSpPr/>
            <p:nvPr/>
          </p:nvSpPr>
          <p:spPr>
            <a:xfrm>
              <a:off x="1963500" y="549166"/>
              <a:ext cx="0" cy="128855"/>
            </a:xfrm>
            <a:prstGeom prst="line">
              <a:avLst/>
            </a:prstGeom>
            <a:ln w="8590" cap="rnd">
              <a:solidFill>
                <a:srgbClr val="16302F">
                  <a:alpha val="55000"/>
                </a:srgbClr>
              </a:solidFill>
              <a:prstDash val="sysDash"/>
              <a:round/>
              <a:headEnd type="none"/>
              <a:tailEnd type="none"/>
            </a:ln>
          </p:spPr>
        </p:sp>
        <p:sp>
          <p:nvSpPr>
            <p:cNvPr id="12" name="splitdot"/>
            <p:cNvSpPr/>
            <p:nvPr/>
          </p:nvSpPr>
          <p:spPr>
            <a:xfrm>
              <a:off x="1943865" y="593959"/>
              <a:ext cx="39270" cy="39270"/>
            </a:xfrm>
            <a:prstGeom prst="ellipse">
              <a:avLst/>
            </a:prstGeom>
            <a:solidFill>
              <a:srgbClr val="FFFFFF"/>
            </a:solidFill>
            <a:ln w="9818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3" name="text 0"/>
            <p:cNvSpPr/>
            <p:nvPr/>
          </p:nvSpPr>
          <p:spPr>
            <a:xfrm>
              <a:off x="451544" y="464490"/>
              <a:ext cx="78663" cy="107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825" b="0" dirty="0">
                  <a:solidFill>
                    <a:srgbClr val="6E8285"/>
                  </a:solidFill>
                  <a:latin typeface="Segoe UI"/>
                </a:rPr>
                <a:t>0</a:t>
              </a:r>
            </a:p>
          </p:txBody>
        </p:sp>
        <p:sp>
          <p:nvSpPr>
            <p:cNvPr id="14" name="text E7 &amp; E8"/>
            <p:cNvSpPr/>
            <p:nvPr/>
          </p:nvSpPr>
          <p:spPr>
            <a:xfrm>
              <a:off x="947235" y="674953"/>
              <a:ext cx="559904" cy="1227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938" b="1" dirty="0">
                  <a:solidFill>
                    <a:srgbClr val="1B6E8C"/>
                  </a:solidFill>
                  <a:latin typeface="Segoe UI"/>
                </a:rPr>
                <a:t>E7 &amp; E8</a:t>
              </a:r>
            </a:p>
          </p:txBody>
        </p:sp>
        <p:sp>
          <p:nvSpPr>
            <p:cNvPr id="15" name="node"/>
            <p:cNvSpPr/>
            <p:nvPr/>
          </p:nvSpPr>
          <p:spPr>
            <a:xfrm>
              <a:off x="613594" y="981750"/>
              <a:ext cx="736313" cy="294525"/>
            </a:xfrm>
            <a:prstGeom prst="roundRect">
              <a:avLst>
                <a:gd name="adj" fmla="val 14583"/>
              </a:avLst>
            </a:prstGeom>
            <a:solidFill>
              <a:srgbClr val="E5F0F5"/>
            </a:solidFill>
            <a:ln w="9818" cap="rnd">
              <a:solidFill>
                <a:srgbClr val="16302F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Create route</a:t>
              </a:r>
            </a:p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segment</a:t>
              </a:r>
            </a:p>
          </p:txBody>
        </p:sp>
        <p:sp>
          <p:nvSpPr>
            <p:cNvPr id="16" name="node"/>
            <p:cNvSpPr/>
            <p:nvPr/>
          </p:nvSpPr>
          <p:spPr>
            <a:xfrm>
              <a:off x="1748742" y="981750"/>
              <a:ext cx="674953" cy="294525"/>
            </a:xfrm>
            <a:prstGeom prst="ellipse">
              <a:avLst/>
            </a:prstGeom>
            <a:solidFill>
              <a:srgbClr val="F9F0E2"/>
            </a:solidFill>
            <a:ln w="9818" cap="rnd">
              <a:solidFill>
                <a:srgbClr val="C2701A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Calibrate</a:t>
              </a:r>
            </a:p>
          </p:txBody>
        </p:sp>
        <p:sp>
          <p:nvSpPr>
            <p:cNvPr id="17" name="node"/>
            <p:cNvSpPr/>
            <p:nvPr/>
          </p:nvSpPr>
          <p:spPr>
            <a:xfrm>
              <a:off x="2699813" y="981750"/>
              <a:ext cx="736313" cy="294525"/>
            </a:xfrm>
            <a:prstGeom prst="diamond">
              <a:avLst/>
            </a:prstGeom>
            <a:solidFill>
              <a:srgbClr val="FFFFFF"/>
            </a:solidFill>
            <a:ln w="9818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8" name="edge"/>
            <p:cNvSpPr/>
            <p:nvPr/>
          </p:nvSpPr>
          <p:spPr>
            <a:xfrm>
              <a:off x="1349906" y="1129013"/>
              <a:ext cx="398836" cy="0"/>
            </a:xfrm>
            <a:prstGeom prst="line">
              <a:avLst/>
            </a:prstGeom>
            <a:ln w="11045" cap="rnd">
              <a:solidFill>
                <a:srgbClr val="4E6265"/>
              </a:solidFill>
              <a:round/>
              <a:headEnd type="none"/>
              <a:tailEnd type="triangle" w="med" len="med"/>
            </a:ln>
          </p:spPr>
        </p:sp>
        <p:sp>
          <p:nvSpPr>
            <p:cNvPr id="19" name="edge"/>
            <p:cNvSpPr/>
            <p:nvPr/>
          </p:nvSpPr>
          <p:spPr>
            <a:xfrm>
              <a:off x="2423695" y="1129013"/>
              <a:ext cx="276117" cy="614"/>
            </a:xfrm>
            <a:custGeom>
              <a:avLst/>
              <a:gdLst/>
              <a:ahLst/>
              <a:cxnLst/>
              <a:rect l="0" t="0" r="45000" b="100"/>
              <a:pathLst>
                <a:path w="45000" h="100" fill="none">
                  <a:moveTo>
                    <a:pt x="0" y="0"/>
                  </a:moveTo>
                  <a:lnTo>
                    <a:pt x="23000" y="0"/>
                  </a:lnTo>
                  <a:lnTo>
                    <a:pt x="23000" y="0"/>
                  </a:lnTo>
                  <a:lnTo>
                    <a:pt x="45000" y="0"/>
                  </a:lnTo>
                </a:path>
              </a:pathLst>
            </a:custGeom>
            <a:noFill/>
            <a:ln w="11045" cap="rnd">
              <a:solidFill>
                <a:srgbClr val="4E6265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20" name="free"/>
            <p:cNvSpPr/>
            <p:nvPr/>
          </p:nvSpPr>
          <p:spPr>
            <a:xfrm>
              <a:off x="3558844" y="859031"/>
              <a:ext cx="490875" cy="490875"/>
            </a:xfrm>
            <a:custGeom>
              <a:avLst/>
              <a:gdLst/>
              <a:ahLst/>
              <a:cxnLst/>
              <a:rect l="0" t="0" r="80000" b="80000"/>
              <a:pathLst>
                <a:path w="80000" h="80000" fill="none">
                  <a:moveTo>
                    <a:pt x="0" y="20000"/>
                  </a:moveTo>
                  <a:cubicBezTo>
                    <a:pt x="20000" y="0"/>
                    <a:pt x="40000" y="80000"/>
                    <a:pt x="60000" y="40000"/>
                  </a:cubicBezTo>
                  <a:cubicBezTo>
                    <a:pt x="66667" y="33333"/>
                    <a:pt x="73333" y="33333"/>
                    <a:pt x="80000" y="40000"/>
                  </a:cubicBezTo>
                </a:path>
              </a:pathLst>
            </a:custGeom>
            <a:noFill/>
            <a:ln w="13499" cap="rnd">
              <a:solidFill>
                <a:srgbClr val="7A5AA6"/>
              </a:solidFill>
              <a:prstDash val="sysDot"/>
              <a:round/>
              <a:headEnd type="none"/>
              <a:tailEnd type="none"/>
            </a:ln>
          </p:spPr>
        </p:sp>
        <p:sp>
          <p:nvSpPr>
            <p:cNvPr id="21" name="freefill"/>
            <p:cNvSpPr/>
            <p:nvPr/>
          </p:nvSpPr>
          <p:spPr>
            <a:xfrm>
              <a:off x="3558844" y="1472625"/>
              <a:ext cx="490875" cy="122719"/>
            </a:xfrm>
            <a:custGeom>
              <a:avLst/>
              <a:gdLst/>
              <a:ahLst/>
              <a:cxnLst/>
              <a:rect l="0" t="0" r="80000" b="20000"/>
              <a:pathLst>
                <a:path w="80000" h="20000">
                  <a:moveTo>
                    <a:pt x="0" y="20000"/>
                  </a:moveTo>
                  <a:lnTo>
                    <a:pt x="40000" y="0"/>
                  </a:lnTo>
                  <a:lnTo>
                    <a:pt x="80000" y="20000"/>
                  </a:lnTo>
                  <a:close/>
                </a:path>
              </a:pathLst>
            </a:custGeom>
            <a:solidFill>
              <a:srgbClr val="E6F2EC"/>
            </a:solidFill>
            <a:ln w="13499" cap="rnd">
              <a:solidFill>
                <a:srgbClr val="2E7D5B"/>
              </a:solidFill>
              <a:round/>
              <a:headEnd type="none"/>
              <a:tailEnd type="none"/>
            </a:ln>
          </p:spPr>
        </p:sp>
        <p:sp>
          <p:nvSpPr>
            <p:cNvPr id="22" name="swatch"/>
            <p:cNvSpPr/>
            <p:nvPr/>
          </p:nvSpPr>
          <p:spPr>
            <a:xfrm>
              <a:off x="368156" y="1840781"/>
              <a:ext cx="134991" cy="0"/>
            </a:xfrm>
            <a:prstGeom prst="line">
              <a:avLst/>
            </a:prstGeom>
            <a:ln w="30680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23" name="text E7 0 → 20"/>
            <p:cNvSpPr/>
            <p:nvPr/>
          </p:nvSpPr>
          <p:spPr>
            <a:xfrm>
              <a:off x="539963" y="1789239"/>
              <a:ext cx="396320" cy="1030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en-US" sz="788" b="0" dirty="0">
                  <a:solidFill>
                    <a:srgbClr val="4E6265"/>
                  </a:solidFill>
                  <a:latin typeface="Segoe UI"/>
                </a:rPr>
                <a:t>E7 0 → 20</a:t>
              </a:r>
            </a:p>
          </p:txBody>
        </p:sp>
        <p:sp>
          <p:nvSpPr>
            <p:cNvPr id="24" name="node"/>
            <p:cNvSpPr/>
            <p:nvPr/>
          </p:nvSpPr>
          <p:spPr>
            <a:xfrm rot="540000">
              <a:off x="3558844" y="368156"/>
              <a:ext cx="245438" cy="490875"/>
            </a:xfrm>
            <a:prstGeom prst="roundRect">
              <a:avLst>
                <a:gd name="adj" fmla="val 17500"/>
              </a:avLst>
            </a:prstGeom>
            <a:solidFill>
              <a:srgbClr val="EFEAF7"/>
            </a:solidFill>
            <a:ln w="9818" cap="rnd">
              <a:solidFill>
                <a:srgbClr val="7A5AA6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Publish</a:t>
              </a:r>
            </a:p>
          </p:txBody>
        </p:sp>
      </p:grpSp>
      <p:graphicFrame>
        <p:nvGraphicFramePr>
          <p:cNvPr id="100001" name="case table"/>
          <p:cNvGraphicFramePr>
            <a:graphicFrameLocks noGrp="1"/>
          </p:cNvGraphicFramePr>
          <p:nvPr/>
        </p:nvGraphicFramePr>
        <p:xfrm>
          <a:off x="4107420" y="3220800"/>
          <a:ext cx="1840000" cy="795000"/>
        </p:xfrm>
        <a:graphic>
          <a:graphicData uri="http://schemas.openxmlformats.org/drawingml/2006/table">
            <a:tbl>
              <a:tblPr firstRow="1" bandRow="0"/>
              <a:tblGrid>
                <a:gridCol w="1280000"/>
                <a:gridCol w="560000"/>
              </a:tblGrid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1" dirty="0">
                          <a:solidFill>
                            <a:srgbClr val="16302F"/>
                          </a:solidFill>
                          <a:latin typeface="Segoe UI"/>
                        </a:rPr>
                        <a:t>Event ID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EF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1" dirty="0">
                          <a:solidFill>
                            <a:srgbClr val="16302F"/>
                          </a:solidFill>
                          <a:latin typeface="Segoe UI"/>
                        </a:rPr>
                        <a:t>E7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EFF2F2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Route ID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R7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Split Measure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002" name="case table"/>
          <p:cNvGraphicFramePr>
            <a:graphicFrameLocks noGrp="1"/>
          </p:cNvGraphicFramePr>
          <p:nvPr/>
        </p:nvGraphicFramePr>
        <p:xfrm>
          <a:off x="6084580" y="3220800"/>
          <a:ext cx="2000000" cy="3180000"/>
        </p:xfrm>
        <a:graphic>
          <a:graphicData uri="http://schemas.openxmlformats.org/drawingml/2006/table">
            <a:tbl>
              <a:tblPr firstRow="1" bandRow="0"/>
              <a:tblGrid>
                <a:gridCol w="800000"/>
                <a:gridCol w="1200000"/>
              </a:tblGrid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1" dirty="0">
                          <a:solidFill>
                            <a:srgbClr val="16302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EF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1" dirty="0">
                          <a:solidFill>
                            <a:srgbClr val="16302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EFF2F2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1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2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3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4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5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6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7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8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9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10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…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igures">
  <a:themeElements>
    <a:clrScheme name="Figures">
      <a:dk1>
        <a:srgbClr val="16302F"/>
      </a:dk1>
      <a:lt1>
        <a:srgbClr val="FFFFFF"/>
      </a:lt1>
      <a:dk2>
        <a:srgbClr val="4E6265"/>
      </a:dk2>
      <a:lt2>
        <a:srgbClr val="EFF2F2"/>
      </a:lt2>
      <a:accent1>
        <a:srgbClr val="1B6E8C"/>
      </a:accent1>
      <a:accent2>
        <a:srgbClr val="C2701A"/>
      </a:accent2>
      <a:accent3>
        <a:srgbClr val="2E7D5B"/>
      </a:accent3>
      <a:accent4>
        <a:srgbClr val="7A5AA6"/>
      </a:accent4>
      <a:accent5>
        <a:srgbClr val="B2442F"/>
      </a:accent5>
      <a:accent6>
        <a:srgbClr val="6E8285"/>
      </a:accent6>
      <a:hlink>
        <a:srgbClr val="1B6E8C"/>
      </a:hlink>
      <a:folHlink>
        <a:srgbClr val="7A5AA6"/>
      </a:folHlink>
    </a:clrScheme>
    <a:fontScheme name="Figure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Figur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Test plan figures</dc:title>
  <dc:creator>svg2pptx</dc:creator>
  <dcterms:created xsi:type="dcterms:W3CDTF">2026-09-05T04:39:03Z</dcterms:created>
  <dcterms:modified xsi:type="dcterms:W3CDTF">2026-09-05T04:39:03Z</dcterms:modified>
</cp:coreProperties>
</file>